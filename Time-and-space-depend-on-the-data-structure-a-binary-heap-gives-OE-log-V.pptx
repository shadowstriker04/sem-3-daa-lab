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Darker Grotesque Medium"/>
      <p:regular r:id="rId201314"/>
    </p:embeddedFont>
    <p:embeddedFont>
      <p:font typeface="Darker Grotesque SemiBold"/>
      <p:regular r:id="rId201315"/>
    </p:embeddedFont>
    <p:embeddedFont>
      <p:font typeface="Darker Grotesque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engineering tradeoff: on dense graphs where E is close to V squared, a simple array scan runs in optimal O(V squared) time without heap overhead. On sparse graphs, the binary heap implementation is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9D2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1825"/>
            <a:ext cx="525766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PRIM'S ALGORITHM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551550" y="641350"/>
            <a:ext cx="203056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COMPLEXITY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014412"/>
            <a:ext cx="10972526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Time and space depend on the data structure: a binary heap gives O(E log V)</a:t>
            </a:r>
            <a:endParaRPr lang="en-US" sz="4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692400"/>
          <a:ext cx="10972526" cy="914400"/>
        </p:xfrm>
        <a:graphic>
          <a:graphicData uri="http://schemas.openxmlformats.org/drawingml/2006/table">
            <a:tbl>
              <a:tblPr/>
              <a:tblGrid>
                <a:gridCol w="3730631"/>
                <a:gridCol w="1974999"/>
                <a:gridCol w="1974999"/>
                <a:gridCol w="3291897"/>
              </a:tblGrid>
              <a:tr h="3770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-120"/>
                        </a:rPr>
                        <a:t>Implementation</a:t>
                      </a:r>
                      <a:endParaRPr lang="en-US" sz="18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-120"/>
                        </a:rPr>
                        <a:t>Time</a:t>
                      </a:r>
                      <a:endParaRPr lang="en-US" sz="18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-120"/>
                        </a:rPr>
                        <a:t>Space</a:t>
                      </a:r>
                      <a:endParaRPr lang="en-US" sz="18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-120"/>
                        </a:rPr>
                        <a:t>Best for</a:t>
                      </a:r>
                      <a:endParaRPr lang="en-US" sz="18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0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-120"/>
                        </a:rPr>
                        <a:t>Adjacency matrix + array scan</a:t>
                      </a:r>
                      <a:endParaRPr lang="en-US" sz="18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-120"/>
                        </a:rPr>
                        <a:t>O(V²)</a:t>
                      </a:r>
                      <a:endParaRPr lang="en-US" sz="18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-120"/>
                        </a:rPr>
                        <a:t>O(V²)</a:t>
                      </a:r>
                      <a:endParaRPr lang="en-US" sz="18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-120"/>
                        </a:rPr>
                        <a:t>Dense graphs (E ≈ V²)</a:t>
                      </a:r>
                      <a:endParaRPr lang="en-US" sz="18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0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-120"/>
                        </a:rPr>
                        <a:t>Adjacency list + binary heap</a:t>
                      </a:r>
                      <a:endParaRPr lang="en-US" sz="18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-120"/>
                        </a:rPr>
                        <a:t>O(E log V)</a:t>
                      </a:r>
                      <a:endParaRPr lang="en-US" sz="18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-120"/>
                        </a:rPr>
                        <a:t>O(V + E)</a:t>
                      </a:r>
                      <a:endParaRPr lang="en-US" sz="18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-120"/>
                        </a:rPr>
                        <a:t>Sparse graphs (standard choice)</a:t>
                      </a:r>
                      <a:endParaRPr lang="en-US" sz="18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2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-120"/>
                        </a:rPr>
                        <a:t>Adjacency list + Fibonacci heap</a:t>
                      </a:r>
                      <a:endParaRPr lang="en-US" sz="18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-120"/>
                        </a:rPr>
                        <a:t>O(E + V log V)</a:t>
                      </a:r>
                      <a:endParaRPr lang="en-US" sz="18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-120"/>
                        </a:rPr>
                        <a:t>O(V + E)</a:t>
                      </a:r>
                      <a:endParaRPr lang="en-US" sz="18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B2622"/>
                          </a:solidFill>
                          <a:latin typeface="Darker Grotesque Medium" pitchFamily="34" charset="0"/>
                          <a:ea typeface="Darker Grotesque Medium" pitchFamily="34" charset="-122"/>
                          <a:cs typeface="Darker Grotesque Medium" pitchFamily="34" charset="-120"/>
                        </a:rPr>
                        <a:t>Very large, moderately dense graphs</a:t>
                      </a:r>
                      <a:endParaRPr lang="en-US" sz="1800" dirty="0">
                        <a:latin typeface="Darker Grotesque Medium" charset="0"/>
                        <a:ea typeface="Darker Grotesque Medium" charset="0"/>
                        <a:cs typeface="Darker Grotesque Medium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611158"/>
            <a:ext cx="52576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Auxiliary Space Overhead: O(V)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09585" y="5033612"/>
            <a:ext cx="525766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Requires key[v] array for minimum edge costs, parent[v] array for tree reconstruction, and an in-heap tracking array.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24442" y="4611158"/>
            <a:ext cx="52576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Comparison with Kruskal: O(E log E)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324442" y="5033612"/>
            <a:ext cx="525766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Kruskal sorts all edges first in O(E log E) = O(E log V) time, using a Disjoint Set Union (union-find) structure with nearly O(1) amortized operations.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2026-10-19T08:56:52Z</dcterms:created>
  <dcterms:modified xsi:type="dcterms:W3CDTF">2026-10-19T08:56:52Z</dcterms:modified>
</cp:coreProperties>
</file>